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Times New Roman Bold" panose="02020803070505020304" pitchFamily="18" charset="0"/>
      <p:regular r:id="rId18"/>
      <p:bold r:id="rId19"/>
    </p:embeddedFont>
    <p:embeddedFont>
      <p:font typeface="Times New Roman Bold Italics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 Jitendra Bsc Bt Bc" userId="b6f622d7f9e30426" providerId="LiveId" clId="{C010B1C5-3FF4-41B9-8049-7518B5B43672}"/>
    <pc:docChg chg="modSld">
      <pc:chgData name="M Jitendra Bsc Bt Bc" userId="b6f622d7f9e30426" providerId="LiveId" clId="{C010B1C5-3FF4-41B9-8049-7518B5B43672}" dt="2026-06-12T16:50:27.600" v="26" actId="1076"/>
      <pc:docMkLst>
        <pc:docMk/>
      </pc:docMkLst>
      <pc:sldChg chg="modSp mod">
        <pc:chgData name="M Jitendra Bsc Bt Bc" userId="b6f622d7f9e30426" providerId="LiveId" clId="{C010B1C5-3FF4-41B9-8049-7518B5B43672}" dt="2026-06-12T16:46:33.425" v="2" actId="14100"/>
        <pc:sldMkLst>
          <pc:docMk/>
          <pc:sldMk cId="0" sldId="257"/>
        </pc:sldMkLst>
        <pc:spChg chg="mod">
          <ac:chgData name="M Jitendra Bsc Bt Bc" userId="b6f622d7f9e30426" providerId="LiveId" clId="{C010B1C5-3FF4-41B9-8049-7518B5B43672}" dt="2026-06-12T16:46:33.425" v="2" actId="14100"/>
          <ac:spMkLst>
            <pc:docMk/>
            <pc:sldMk cId="0" sldId="257"/>
            <ac:spMk id="36" creationId="{00000000-0000-0000-0000-000000000000}"/>
          </ac:spMkLst>
        </pc:spChg>
      </pc:sldChg>
      <pc:sldChg chg="modSp mod">
        <pc:chgData name="M Jitendra Bsc Bt Bc" userId="b6f622d7f9e30426" providerId="LiveId" clId="{C010B1C5-3FF4-41B9-8049-7518B5B43672}" dt="2026-06-12T16:48:03.522" v="9" actId="255"/>
        <pc:sldMkLst>
          <pc:docMk/>
          <pc:sldMk cId="0" sldId="259"/>
        </pc:sldMkLst>
        <pc:spChg chg="mod">
          <ac:chgData name="M Jitendra Bsc Bt Bc" userId="b6f622d7f9e30426" providerId="LiveId" clId="{C010B1C5-3FF4-41B9-8049-7518B5B43672}" dt="2026-06-12T16:48:03.522" v="9" actId="255"/>
          <ac:spMkLst>
            <pc:docMk/>
            <pc:sldMk cId="0" sldId="259"/>
            <ac:spMk id="10" creationId="{00000000-0000-0000-0000-000000000000}"/>
          </ac:spMkLst>
        </pc:spChg>
        <pc:spChg chg="mod">
          <ac:chgData name="M Jitendra Bsc Bt Bc" userId="b6f622d7f9e30426" providerId="LiveId" clId="{C010B1C5-3FF4-41B9-8049-7518B5B43672}" dt="2026-06-12T16:47:26.966" v="5" actId="1076"/>
          <ac:spMkLst>
            <pc:docMk/>
            <pc:sldMk cId="0" sldId="259"/>
            <ac:spMk id="11" creationId="{00000000-0000-0000-0000-000000000000}"/>
          </ac:spMkLst>
        </pc:spChg>
        <pc:grpChg chg="mod">
          <ac:chgData name="M Jitendra Bsc Bt Bc" userId="b6f622d7f9e30426" providerId="LiveId" clId="{C010B1C5-3FF4-41B9-8049-7518B5B43672}" dt="2026-06-12T16:47:38.980" v="7" actId="1076"/>
          <ac:grpSpMkLst>
            <pc:docMk/>
            <pc:sldMk cId="0" sldId="259"/>
            <ac:grpSpMk id="3" creationId="{00000000-0000-0000-0000-000000000000}"/>
          </ac:grpSpMkLst>
        </pc:grpChg>
        <pc:grpChg chg="mod">
          <ac:chgData name="M Jitendra Bsc Bt Bc" userId="b6f622d7f9e30426" providerId="LiveId" clId="{C010B1C5-3FF4-41B9-8049-7518B5B43672}" dt="2026-06-12T16:47:34.297" v="6" actId="1076"/>
          <ac:grpSpMkLst>
            <pc:docMk/>
            <pc:sldMk cId="0" sldId="259"/>
            <ac:grpSpMk id="7" creationId="{00000000-0000-0000-0000-000000000000}"/>
          </ac:grpSpMkLst>
        </pc:grpChg>
      </pc:sldChg>
      <pc:sldChg chg="addSp modSp mod">
        <pc:chgData name="M Jitendra Bsc Bt Bc" userId="b6f622d7f9e30426" providerId="LiveId" clId="{C010B1C5-3FF4-41B9-8049-7518B5B43672}" dt="2026-06-12T16:49:36.954" v="24" actId="1076"/>
        <pc:sldMkLst>
          <pc:docMk/>
          <pc:sldMk cId="0" sldId="260"/>
        </pc:sldMkLst>
        <pc:spChg chg="mod">
          <ac:chgData name="M Jitendra Bsc Bt Bc" userId="b6f622d7f9e30426" providerId="LiveId" clId="{C010B1C5-3FF4-41B9-8049-7518B5B43672}" dt="2026-06-12T16:49:05.253" v="21" actId="20577"/>
          <ac:spMkLst>
            <pc:docMk/>
            <pc:sldMk cId="0" sldId="260"/>
            <ac:spMk id="5" creationId="{00000000-0000-0000-0000-000000000000}"/>
          </ac:spMkLst>
        </pc:spChg>
        <pc:spChg chg="add mod">
          <ac:chgData name="M Jitendra Bsc Bt Bc" userId="b6f622d7f9e30426" providerId="LiveId" clId="{C010B1C5-3FF4-41B9-8049-7518B5B43672}" dt="2026-06-12T16:49:29.377" v="23" actId="1076"/>
          <ac:spMkLst>
            <pc:docMk/>
            <pc:sldMk cId="0" sldId="260"/>
            <ac:spMk id="6" creationId="{082B27A6-C782-BDAD-8B4C-6B0DD701B143}"/>
          </ac:spMkLst>
        </pc:spChg>
        <pc:spChg chg="add mod">
          <ac:chgData name="M Jitendra Bsc Bt Bc" userId="b6f622d7f9e30426" providerId="LiveId" clId="{C010B1C5-3FF4-41B9-8049-7518B5B43672}" dt="2026-06-12T16:49:36.954" v="24" actId="1076"/>
          <ac:spMkLst>
            <pc:docMk/>
            <pc:sldMk cId="0" sldId="260"/>
            <ac:spMk id="7" creationId="{A7B4A0D2-5A9A-A50A-CD93-7A9CCA46738F}"/>
          </ac:spMkLst>
        </pc:spChg>
        <pc:spChg chg="add mod">
          <ac:chgData name="M Jitendra Bsc Bt Bc" userId="b6f622d7f9e30426" providerId="LiveId" clId="{C010B1C5-3FF4-41B9-8049-7518B5B43672}" dt="2026-06-12T16:48:57.659" v="18" actId="1076"/>
          <ac:spMkLst>
            <pc:docMk/>
            <pc:sldMk cId="0" sldId="260"/>
            <ac:spMk id="8" creationId="{5C0B2EA4-1D89-89FF-F438-664381E8D2F2}"/>
          </ac:spMkLst>
        </pc:spChg>
      </pc:sldChg>
      <pc:sldChg chg="modSp mod">
        <pc:chgData name="M Jitendra Bsc Bt Bc" userId="b6f622d7f9e30426" providerId="LiveId" clId="{C010B1C5-3FF4-41B9-8049-7518B5B43672}" dt="2026-06-12T16:49:59.442" v="25" actId="1076"/>
        <pc:sldMkLst>
          <pc:docMk/>
          <pc:sldMk cId="0" sldId="261"/>
        </pc:sldMkLst>
        <pc:grpChg chg="mod">
          <ac:chgData name="M Jitendra Bsc Bt Bc" userId="b6f622d7f9e30426" providerId="LiveId" clId="{C010B1C5-3FF4-41B9-8049-7518B5B43672}" dt="2026-06-12T16:49:59.442" v="25" actId="1076"/>
          <ac:grpSpMkLst>
            <pc:docMk/>
            <pc:sldMk cId="0" sldId="261"/>
            <ac:grpSpMk id="4" creationId="{00000000-0000-0000-0000-000000000000}"/>
          </ac:grpSpMkLst>
        </pc:grpChg>
      </pc:sldChg>
      <pc:sldChg chg="modSp mod">
        <pc:chgData name="M Jitendra Bsc Bt Bc" userId="b6f622d7f9e30426" providerId="LiveId" clId="{C010B1C5-3FF4-41B9-8049-7518B5B43672}" dt="2026-06-12T16:50:27.600" v="26" actId="1076"/>
        <pc:sldMkLst>
          <pc:docMk/>
          <pc:sldMk cId="0" sldId="269"/>
        </pc:sldMkLst>
        <pc:spChg chg="mod">
          <ac:chgData name="M Jitendra Bsc Bt Bc" userId="b6f622d7f9e30426" providerId="LiveId" clId="{C010B1C5-3FF4-41B9-8049-7518B5B43672}" dt="2026-06-12T16:50:27.600" v="26" actId="1076"/>
          <ac:spMkLst>
            <pc:docMk/>
            <pc:sldMk cId="0" sldId="269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1957169" y="0"/>
            <a:ext cx="6330831" cy="4984091"/>
          </a:xfrm>
          <a:custGeom>
            <a:avLst/>
            <a:gdLst/>
            <a:ahLst/>
            <a:cxnLst/>
            <a:rect l="l" t="t" r="r" b="b"/>
            <a:pathLst>
              <a:path w="6330831" h="4984091">
                <a:moveTo>
                  <a:pt x="6330831" y="0"/>
                </a:moveTo>
                <a:lnTo>
                  <a:pt x="0" y="0"/>
                </a:lnTo>
                <a:lnTo>
                  <a:pt x="0" y="4984091"/>
                </a:lnTo>
                <a:lnTo>
                  <a:pt x="6330831" y="4984091"/>
                </a:lnTo>
                <a:lnTo>
                  <a:pt x="633083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3809790" y="5826116"/>
            <a:ext cx="4478210" cy="4478210"/>
          </a:xfrm>
          <a:custGeom>
            <a:avLst/>
            <a:gdLst/>
            <a:ahLst/>
            <a:cxnLst/>
            <a:rect l="l" t="t" r="r" b="b"/>
            <a:pathLst>
              <a:path w="4478210" h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flipH="1">
            <a:off x="1925123" y="2221779"/>
            <a:ext cx="0" cy="5843443"/>
          </a:xfrm>
          <a:prstGeom prst="line">
            <a:avLst/>
          </a:prstGeom>
          <a:ln w="57150" cap="flat">
            <a:solidFill>
              <a:srgbClr val="2D388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0" y="0"/>
            <a:ext cx="3774347" cy="2894816"/>
          </a:xfrm>
          <a:custGeom>
            <a:avLst/>
            <a:gdLst/>
            <a:ahLst/>
            <a:cxnLst/>
            <a:rect l="l" t="t" r="r" b="b"/>
            <a:pathLst>
              <a:path w="3774347" h="2894816">
                <a:moveTo>
                  <a:pt x="0" y="0"/>
                </a:moveTo>
                <a:lnTo>
                  <a:pt x="3774347" y="0"/>
                </a:lnTo>
                <a:lnTo>
                  <a:pt x="3774347" y="2894816"/>
                </a:lnTo>
                <a:lnTo>
                  <a:pt x="0" y="28948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1915" b="-18467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08093" y="3620822"/>
            <a:ext cx="12944943" cy="274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08"/>
              </a:lnSpc>
            </a:pPr>
            <a:r>
              <a:rPr lang="en-US" sz="70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Bluestock Mutual Fund Analytics: End-to-End Data Pipeline &amp; Intelligence Dashboard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71864" y="6972386"/>
            <a:ext cx="10368096" cy="1092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40"/>
              </a:lnSpc>
            </a:pPr>
            <a:r>
              <a:rPr lang="en-US" sz="31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By- M Jitendra </a:t>
            </a:r>
          </a:p>
          <a:p>
            <a:pPr marL="0" lvl="0" indent="0" algn="just">
              <a:lnSpc>
                <a:spcPts val="4340"/>
              </a:lnSpc>
            </a:pPr>
            <a:r>
              <a:rPr lang="en-US" sz="31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Date-12 June,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7265776"/>
            <a:ext cx="3837582" cy="3021224"/>
          </a:xfrm>
          <a:custGeom>
            <a:avLst/>
            <a:gdLst/>
            <a:ahLst/>
            <a:cxnLst/>
            <a:rect l="l" t="t" r="r" b="b"/>
            <a:pathLst>
              <a:path w="3837582" h="3021224">
                <a:moveTo>
                  <a:pt x="0" y="3021224"/>
                </a:moveTo>
                <a:lnTo>
                  <a:pt x="3837582" y="3021224"/>
                </a:lnTo>
                <a:lnTo>
                  <a:pt x="3837582" y="0"/>
                </a:lnTo>
                <a:lnTo>
                  <a:pt x="0" y="0"/>
                </a:lnTo>
                <a:lnTo>
                  <a:pt x="0" y="30212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0" y="0"/>
            <a:ext cx="3700206" cy="3803950"/>
          </a:xfrm>
          <a:custGeom>
            <a:avLst/>
            <a:gdLst/>
            <a:ahLst/>
            <a:cxnLst/>
            <a:rect l="l" t="t" r="r" b="b"/>
            <a:pathLst>
              <a:path w="3700206" h="3803950">
                <a:moveTo>
                  <a:pt x="3700206" y="3803950"/>
                </a:moveTo>
                <a:lnTo>
                  <a:pt x="0" y="3803950"/>
                </a:lnTo>
                <a:lnTo>
                  <a:pt x="0" y="0"/>
                </a:lnTo>
                <a:lnTo>
                  <a:pt x="3700206" y="0"/>
                </a:lnTo>
                <a:lnTo>
                  <a:pt x="3700206" y="38039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177675" y="603003"/>
            <a:ext cx="12715243" cy="114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00"/>
              </a:lnSpc>
              <a:spcBef>
                <a:spcPct val="0"/>
              </a:spcBef>
            </a:pPr>
            <a:r>
              <a:rPr lang="en-US" sz="6500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CONTENTS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786379" y="3029301"/>
            <a:ext cx="842787" cy="84278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86379" y="4157838"/>
            <a:ext cx="842787" cy="8427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786379" y="5286375"/>
            <a:ext cx="842787" cy="8427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03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786379" y="6414912"/>
            <a:ext cx="842787" cy="84278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786379" y="7555405"/>
            <a:ext cx="842787" cy="842787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05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786379" y="8624219"/>
            <a:ext cx="842787" cy="842787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494202" y="3012791"/>
            <a:ext cx="842787" cy="842787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07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494202" y="4157838"/>
            <a:ext cx="842787" cy="842787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08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3837582" y="4157980"/>
            <a:ext cx="5306418" cy="112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Business Problem &amp; Objective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837582" y="5391292"/>
            <a:ext cx="5656619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Architecture &amp; Pipeline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837582" y="6512806"/>
            <a:ext cx="5656619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Challenges: Synthetic Personas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837582" y="7650726"/>
            <a:ext cx="5447069" cy="112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 Overview &amp; Market Share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837582" y="8779120"/>
            <a:ext cx="5447069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 Performance Scorecard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546539" y="3124622"/>
            <a:ext cx="7741461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Quantitative Risk: VaR &amp; CVaR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546539" y="4264907"/>
            <a:ext cx="6480216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Trends: Rolling Sharpe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837582" y="3091602"/>
            <a:ext cx="2410818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494202" y="7562499"/>
            <a:ext cx="842787" cy="842787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11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0546539" y="5331116"/>
            <a:ext cx="7741461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Investor Behavior &amp; Demographics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9494202" y="5286375"/>
            <a:ext cx="842787" cy="842787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09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494202" y="6414912"/>
            <a:ext cx="842787" cy="842787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0546539" y="6510233"/>
            <a:ext cx="6224743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Churn Analysis: SIP Continuity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546539" y="7657820"/>
            <a:ext cx="7741461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Sentiment: Net Inflows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9494202" y="8691036"/>
            <a:ext cx="842787" cy="842787"/>
            <a:chOff x="0" y="0"/>
            <a:chExt cx="812800" cy="812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12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0546539" y="8833840"/>
            <a:ext cx="5656619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Roadmap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30012" y="0"/>
            <a:ext cx="5143500" cy="5143500"/>
          </a:xfrm>
          <a:custGeom>
            <a:avLst/>
            <a:gdLst/>
            <a:ahLst/>
            <a:cxnLst/>
            <a:rect l="l" t="t" r="r" b="b"/>
            <a:pathLst>
              <a:path w="5143500" h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881570" y="1329629"/>
            <a:ext cx="8219502" cy="1359813"/>
            <a:chOff x="0" y="0"/>
            <a:chExt cx="1282849" cy="2122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82849" cy="212231"/>
            </a:xfrm>
            <a:custGeom>
              <a:avLst/>
              <a:gdLst/>
              <a:ahLst/>
              <a:cxnLst/>
              <a:rect l="l" t="t" r="r" b="b"/>
              <a:pathLst>
                <a:path w="1282849" h="212231">
                  <a:moveTo>
                    <a:pt x="0" y="0"/>
                  </a:moveTo>
                  <a:lnTo>
                    <a:pt x="1282849" y="0"/>
                  </a:lnTo>
                  <a:lnTo>
                    <a:pt x="1282849" y="212231"/>
                  </a:lnTo>
                  <a:lnTo>
                    <a:pt x="0" y="212231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282849" cy="269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146516" y="1357059"/>
            <a:ext cx="5689611" cy="2362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75"/>
              </a:lnSpc>
            </a:pPr>
            <a:r>
              <a:rPr lang="en-US" sz="7420" b="1" i="1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 </a:t>
            </a:r>
            <a:r>
              <a:rPr lang="en-US" sz="742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  <a:p>
            <a:pPr marL="0" lvl="0" indent="0" algn="l">
              <a:lnSpc>
                <a:spcPts val="9275"/>
              </a:lnSpc>
            </a:pPr>
            <a:endParaRPr lang="en-US" sz="742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891053" y="3142614"/>
            <a:ext cx="13792498" cy="6714301"/>
            <a:chOff x="0" y="0"/>
            <a:chExt cx="3632592" cy="17683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32592" cy="1768375"/>
            </a:xfrm>
            <a:custGeom>
              <a:avLst/>
              <a:gdLst/>
              <a:ahLst/>
              <a:cxnLst/>
              <a:rect l="l" t="t" r="r" b="b"/>
              <a:pathLst>
                <a:path w="3632592" h="1768375">
                  <a:moveTo>
                    <a:pt x="28627" y="0"/>
                  </a:moveTo>
                  <a:lnTo>
                    <a:pt x="3603965" y="0"/>
                  </a:lnTo>
                  <a:cubicBezTo>
                    <a:pt x="3611557" y="0"/>
                    <a:pt x="3618839" y="3016"/>
                    <a:pt x="3624207" y="8385"/>
                  </a:cubicBezTo>
                  <a:cubicBezTo>
                    <a:pt x="3629576" y="13753"/>
                    <a:pt x="3632592" y="21035"/>
                    <a:pt x="3632592" y="28627"/>
                  </a:cubicBezTo>
                  <a:lnTo>
                    <a:pt x="3632592" y="1739748"/>
                  </a:lnTo>
                  <a:cubicBezTo>
                    <a:pt x="3632592" y="1747341"/>
                    <a:pt x="3629576" y="1754622"/>
                    <a:pt x="3624207" y="1759991"/>
                  </a:cubicBezTo>
                  <a:cubicBezTo>
                    <a:pt x="3618839" y="1765359"/>
                    <a:pt x="3611557" y="1768375"/>
                    <a:pt x="3603965" y="1768375"/>
                  </a:cubicBezTo>
                  <a:lnTo>
                    <a:pt x="28627" y="1768375"/>
                  </a:lnTo>
                  <a:cubicBezTo>
                    <a:pt x="21035" y="1768375"/>
                    <a:pt x="13753" y="1765359"/>
                    <a:pt x="8385" y="1759991"/>
                  </a:cubicBezTo>
                  <a:cubicBezTo>
                    <a:pt x="3016" y="1754622"/>
                    <a:pt x="0" y="1747341"/>
                    <a:pt x="0" y="1739748"/>
                  </a:cubicBezTo>
                  <a:lnTo>
                    <a:pt x="0" y="28627"/>
                  </a:lnTo>
                  <a:cubicBezTo>
                    <a:pt x="0" y="21035"/>
                    <a:pt x="3016" y="13753"/>
                    <a:pt x="8385" y="8385"/>
                  </a:cubicBezTo>
                  <a:cubicBezTo>
                    <a:pt x="13753" y="3016"/>
                    <a:pt x="21035" y="0"/>
                    <a:pt x="28627" y="0"/>
                  </a:cubicBezTo>
                  <a:close/>
                </a:path>
              </a:pathLst>
            </a:custGeom>
            <a:solidFill>
              <a:srgbClr val="CBCBE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3632592" cy="1825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230280" y="3662726"/>
            <a:ext cx="10896860" cy="5444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0"/>
              </a:lnSpc>
              <a:spcBef>
                <a:spcPct val="0"/>
              </a:spcBef>
            </a:pPr>
            <a:r>
              <a:rPr lang="en-US" sz="513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Hello everyone, my name is M Jitendra, and today I will be walking you through my capstone project. We transformed raw, disconnected mutual fund data into a predictive, automated business intelligence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0123" y="7165990"/>
            <a:ext cx="7328478" cy="3104610"/>
          </a:xfrm>
          <a:custGeom>
            <a:avLst/>
            <a:gdLst/>
            <a:ahLst/>
            <a:cxnLst/>
            <a:rect l="l" t="t" r="r" b="b"/>
            <a:pathLst>
              <a:path w="7328478" h="3104610">
                <a:moveTo>
                  <a:pt x="0" y="0"/>
                </a:moveTo>
                <a:lnTo>
                  <a:pt x="7328477" y="0"/>
                </a:lnTo>
                <a:lnTo>
                  <a:pt x="7328477" y="3104610"/>
                </a:lnTo>
                <a:lnTo>
                  <a:pt x="0" y="3104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930944" y="2460855"/>
            <a:ext cx="5713300" cy="5331162"/>
            <a:chOff x="0" y="0"/>
            <a:chExt cx="1504737" cy="14040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04738" cy="1404092"/>
            </a:xfrm>
            <a:custGeom>
              <a:avLst/>
              <a:gdLst/>
              <a:ahLst/>
              <a:cxnLst/>
              <a:rect l="l" t="t" r="r" b="b"/>
              <a:pathLst>
                <a:path w="1504738" h="1404092">
                  <a:moveTo>
                    <a:pt x="69109" y="0"/>
                  </a:moveTo>
                  <a:lnTo>
                    <a:pt x="1435629" y="0"/>
                  </a:lnTo>
                  <a:cubicBezTo>
                    <a:pt x="1453958" y="0"/>
                    <a:pt x="1471536" y="7281"/>
                    <a:pt x="1484496" y="20241"/>
                  </a:cubicBezTo>
                  <a:cubicBezTo>
                    <a:pt x="1497456" y="33202"/>
                    <a:pt x="1504738" y="50780"/>
                    <a:pt x="1504738" y="69109"/>
                  </a:cubicBezTo>
                  <a:lnTo>
                    <a:pt x="1504738" y="1334983"/>
                  </a:lnTo>
                  <a:cubicBezTo>
                    <a:pt x="1504738" y="1373151"/>
                    <a:pt x="1473797" y="1404092"/>
                    <a:pt x="1435629" y="1404092"/>
                  </a:cubicBezTo>
                  <a:lnTo>
                    <a:pt x="69109" y="1404092"/>
                  </a:lnTo>
                  <a:cubicBezTo>
                    <a:pt x="50780" y="1404092"/>
                    <a:pt x="33202" y="1396811"/>
                    <a:pt x="20241" y="1383851"/>
                  </a:cubicBezTo>
                  <a:cubicBezTo>
                    <a:pt x="7281" y="1370890"/>
                    <a:pt x="0" y="1353312"/>
                    <a:pt x="0" y="1334983"/>
                  </a:cubicBezTo>
                  <a:lnTo>
                    <a:pt x="0" y="69109"/>
                  </a:lnTo>
                  <a:cubicBezTo>
                    <a:pt x="0" y="30941"/>
                    <a:pt x="30941" y="0"/>
                    <a:pt x="69109" y="0"/>
                  </a:cubicBezTo>
                  <a:close/>
                </a:path>
              </a:pathLst>
            </a:custGeom>
            <a:solidFill>
              <a:srgbClr val="615EDB">
                <a:alpha val="43922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504737" cy="1461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09633" y="759014"/>
            <a:ext cx="13095434" cy="1123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60"/>
              </a:lnSpc>
              <a:spcBef>
                <a:spcPct val="0"/>
              </a:spcBef>
            </a:pPr>
            <a:r>
              <a:rPr lang="en-US" sz="6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Business Problem &amp; Objective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517702" y="2404836"/>
            <a:ext cx="5713300" cy="5498347"/>
            <a:chOff x="0" y="0"/>
            <a:chExt cx="1504737" cy="144812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04738" cy="1448124"/>
            </a:xfrm>
            <a:custGeom>
              <a:avLst/>
              <a:gdLst/>
              <a:ahLst/>
              <a:cxnLst/>
              <a:rect l="l" t="t" r="r" b="b"/>
              <a:pathLst>
                <a:path w="1504738" h="1448124">
                  <a:moveTo>
                    <a:pt x="69109" y="0"/>
                  </a:moveTo>
                  <a:lnTo>
                    <a:pt x="1435629" y="0"/>
                  </a:lnTo>
                  <a:cubicBezTo>
                    <a:pt x="1453958" y="0"/>
                    <a:pt x="1471536" y="7281"/>
                    <a:pt x="1484496" y="20241"/>
                  </a:cubicBezTo>
                  <a:cubicBezTo>
                    <a:pt x="1497456" y="33202"/>
                    <a:pt x="1504738" y="50780"/>
                    <a:pt x="1504738" y="69109"/>
                  </a:cubicBezTo>
                  <a:lnTo>
                    <a:pt x="1504738" y="1379016"/>
                  </a:lnTo>
                  <a:cubicBezTo>
                    <a:pt x="1504738" y="1417183"/>
                    <a:pt x="1473797" y="1448124"/>
                    <a:pt x="1435629" y="1448124"/>
                  </a:cubicBezTo>
                  <a:lnTo>
                    <a:pt x="69109" y="1448124"/>
                  </a:lnTo>
                  <a:cubicBezTo>
                    <a:pt x="50780" y="1448124"/>
                    <a:pt x="33202" y="1440843"/>
                    <a:pt x="20241" y="1427883"/>
                  </a:cubicBezTo>
                  <a:cubicBezTo>
                    <a:pt x="7281" y="1414923"/>
                    <a:pt x="0" y="1397345"/>
                    <a:pt x="0" y="1379016"/>
                  </a:cubicBezTo>
                  <a:lnTo>
                    <a:pt x="0" y="69109"/>
                  </a:lnTo>
                  <a:cubicBezTo>
                    <a:pt x="0" y="30941"/>
                    <a:pt x="30941" y="0"/>
                    <a:pt x="69109" y="0"/>
                  </a:cubicBezTo>
                  <a:close/>
                </a:path>
              </a:pathLst>
            </a:custGeom>
            <a:solidFill>
              <a:srgbClr val="615EDB">
                <a:alpha val="4392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504737" cy="15052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210556" y="2447553"/>
            <a:ext cx="5433690" cy="5391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39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Problem</a:t>
            </a:r>
          </a:p>
          <a:p>
            <a:pPr algn="ctr">
              <a:lnSpc>
                <a:spcPts val="5639"/>
              </a:lnSpc>
              <a:spcBef>
                <a:spcPct val="0"/>
              </a:spcBef>
            </a:pPr>
            <a:endParaRPr lang="en-US" sz="3317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490400" lvl="1" indent="-245200" algn="l">
              <a:lnSpc>
                <a:spcPts val="3429"/>
              </a:lnSpc>
              <a:buFont typeface="Arial"/>
              <a:buChar char="•"/>
            </a:pPr>
            <a:r>
              <a:rPr lang="en-US" sz="227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data processing causing significant reporting latency. </a:t>
            </a:r>
          </a:p>
          <a:p>
            <a:pPr marL="490400" lvl="1" indent="-245200" algn="l">
              <a:lnSpc>
                <a:spcPts val="3429"/>
              </a:lnSpc>
              <a:buFont typeface="Arial"/>
              <a:buChar char="•"/>
            </a:pPr>
            <a:r>
              <a:rPr lang="en-US" sz="227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Siloed data sources preventing a 360° view of fund performance.</a:t>
            </a:r>
          </a:p>
          <a:p>
            <a:pPr marL="490400" lvl="1" indent="-245200" algn="l">
              <a:lnSpc>
                <a:spcPts val="3429"/>
              </a:lnSpc>
              <a:buFont typeface="Arial"/>
              <a:buChar char="•"/>
            </a:pPr>
            <a:r>
              <a:rPr lang="en-US" sz="227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Absence of quantitative risk metrics (</a:t>
            </a:r>
            <a:r>
              <a:rPr lang="en-US" sz="227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</a:t>
            </a:r>
            <a:r>
              <a:rPr lang="en-US" sz="227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/Sharpe) for decision support.</a:t>
            </a:r>
          </a:p>
          <a:p>
            <a:pPr marL="490400" lvl="1" indent="-245200" algn="l">
              <a:lnSpc>
                <a:spcPts val="3429"/>
              </a:lnSpc>
              <a:buFont typeface="Arial"/>
              <a:buChar char="•"/>
            </a:pPr>
            <a:r>
              <a:rPr lang="en-US" sz="227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 visibility into investor churn and payment discontinuity patterns.</a:t>
            </a:r>
          </a:p>
          <a:p>
            <a:pPr algn="l">
              <a:lnSpc>
                <a:spcPts val="3573"/>
              </a:lnSpc>
            </a:pPr>
            <a:endParaRPr lang="en-US" sz="227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744200" y="2488429"/>
            <a:ext cx="5280508" cy="5294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69"/>
              </a:lnSpc>
              <a:spcBef>
                <a:spcPct val="0"/>
              </a:spcBef>
            </a:pPr>
            <a:r>
              <a:rPr lang="en-US" sz="3621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Solution</a:t>
            </a:r>
          </a:p>
          <a:p>
            <a:pPr algn="ctr">
              <a:lnSpc>
                <a:spcPts val="5069"/>
              </a:lnSpc>
              <a:spcBef>
                <a:spcPct val="0"/>
              </a:spcBef>
            </a:pPr>
            <a:endParaRPr lang="en-US" sz="3621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534927" lvl="1" indent="-267464" algn="l">
              <a:lnSpc>
                <a:spcPts val="3468"/>
              </a:lnSpc>
              <a:spcBef>
                <a:spcPct val="0"/>
              </a:spcBef>
              <a:buFont typeface="Arial"/>
              <a:buChar char="•"/>
            </a:pPr>
            <a:r>
              <a:rPr lang="en-US" sz="247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End-to-end automated Python ETL pipeline for data integrity.</a:t>
            </a:r>
          </a:p>
          <a:p>
            <a:pPr marL="534927" lvl="1" indent="-267464" algn="l">
              <a:lnSpc>
                <a:spcPts val="3468"/>
              </a:lnSpc>
              <a:spcBef>
                <a:spcPct val="0"/>
              </a:spcBef>
              <a:buFont typeface="Arial"/>
              <a:buChar char="•"/>
            </a:pPr>
            <a:r>
              <a:rPr lang="en-US" sz="247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Kimball Star Schema architecture for optimized BI querying.</a:t>
            </a:r>
          </a:p>
          <a:p>
            <a:pPr marL="534927" lvl="1" indent="-267464" algn="l">
              <a:lnSpc>
                <a:spcPts val="3468"/>
              </a:lnSpc>
              <a:spcBef>
                <a:spcPct val="0"/>
              </a:spcBef>
              <a:buFont typeface="Arial"/>
              <a:buChar char="•"/>
            </a:pPr>
            <a:r>
              <a:rPr lang="en-US" sz="247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risk-modeling (95% </a:t>
            </a:r>
            <a:r>
              <a:rPr lang="en-US" sz="247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</a:t>
            </a:r>
            <a:r>
              <a:rPr lang="en-US" sz="247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&amp; Rolling Sharpe ratios).</a:t>
            </a:r>
          </a:p>
          <a:p>
            <a:pPr marL="534927" lvl="1" indent="-267464" algn="l">
              <a:lnSpc>
                <a:spcPts val="3716"/>
              </a:lnSpc>
              <a:buFont typeface="Arial"/>
              <a:buChar char="•"/>
            </a:pPr>
            <a:r>
              <a:rPr lang="en-US" sz="247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Interactive, drill-through enabled Executive Dashboard.</a:t>
            </a:r>
          </a:p>
          <a:p>
            <a:pPr algn="l">
              <a:lnSpc>
                <a:spcPts val="3468"/>
              </a:lnSpc>
              <a:spcBef>
                <a:spcPct val="0"/>
              </a:spcBef>
            </a:pPr>
            <a:endParaRPr lang="en-US" sz="2477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45386" y="0"/>
            <a:ext cx="3508879" cy="3508879"/>
          </a:xfrm>
          <a:custGeom>
            <a:avLst/>
            <a:gdLst/>
            <a:ahLst/>
            <a:cxnLst/>
            <a:rect l="l" t="t" r="r" b="b"/>
            <a:pathLst>
              <a:path w="3508879" h="3508879">
                <a:moveTo>
                  <a:pt x="3508879" y="0"/>
                </a:moveTo>
                <a:lnTo>
                  <a:pt x="0" y="0"/>
                </a:lnTo>
                <a:lnTo>
                  <a:pt x="0" y="3508879"/>
                </a:lnTo>
                <a:lnTo>
                  <a:pt x="3508879" y="3508879"/>
                </a:lnTo>
                <a:lnTo>
                  <a:pt x="35088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745608" y="6744608"/>
            <a:ext cx="3542392" cy="3542392"/>
          </a:xfrm>
          <a:custGeom>
            <a:avLst/>
            <a:gdLst/>
            <a:ahLst/>
            <a:cxnLst/>
            <a:rect l="l" t="t" r="r" b="b"/>
            <a:pathLst>
              <a:path w="3542392" h="3542392">
                <a:moveTo>
                  <a:pt x="3542392" y="3542392"/>
                </a:moveTo>
                <a:lnTo>
                  <a:pt x="0" y="3542392"/>
                </a:lnTo>
                <a:lnTo>
                  <a:pt x="0" y="0"/>
                </a:lnTo>
                <a:lnTo>
                  <a:pt x="3542392" y="0"/>
                </a:lnTo>
                <a:lnTo>
                  <a:pt x="3542392" y="35423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935554" y="99817"/>
            <a:ext cx="10840884" cy="1066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Data Architecture &amp; Pipeline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53550" y="1640139"/>
            <a:ext cx="15580900" cy="7778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7"/>
              </a:lnSpc>
            </a:pPr>
            <a:r>
              <a:rPr lang="en-US" sz="311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Raw CSVs</a:t>
            </a:r>
            <a:r>
              <a:rPr lang="en-US" sz="311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ctr">
              <a:lnSpc>
                <a:spcPts val="4677"/>
              </a:lnSpc>
            </a:pPr>
            <a:r>
              <a:rPr lang="en-US" sz="311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(Ingesting 8+ disparate CSV files, encompassing daily NAVs, transaction logs, and scheme metadata.)</a:t>
            </a:r>
          </a:p>
          <a:p>
            <a:pPr algn="ctr">
              <a:lnSpc>
                <a:spcPts val="4677"/>
              </a:lnSpc>
            </a:pPr>
            <a:endParaRPr lang="en-US" sz="3118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4677"/>
              </a:lnSpc>
            </a:pPr>
            <a:r>
              <a:rPr lang="en-US" sz="311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Python/Pandas (ETL) </a:t>
            </a:r>
          </a:p>
          <a:p>
            <a:pPr algn="ctr">
              <a:lnSpc>
                <a:spcPts val="4677"/>
              </a:lnSpc>
            </a:pPr>
            <a:r>
              <a:rPr lang="en-US" sz="311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(Pandas-driven vectorization for data type casting, date normalization, and anomaly handling.)</a:t>
            </a:r>
          </a:p>
          <a:p>
            <a:pPr algn="ctr">
              <a:lnSpc>
                <a:spcPts val="4677"/>
              </a:lnSpc>
            </a:pPr>
            <a:endParaRPr lang="en-US" sz="3118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4677"/>
              </a:lnSpc>
            </a:pPr>
            <a:r>
              <a:rPr lang="en-US" sz="311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SQLite (Star Schema) </a:t>
            </a:r>
          </a:p>
          <a:p>
            <a:pPr algn="ctr">
              <a:lnSpc>
                <a:spcPts val="4677"/>
              </a:lnSpc>
            </a:pPr>
            <a:r>
              <a:rPr lang="en-US" sz="311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(Star Schema architecture (Fact &amp; Dimension tables) ensuring 1-to-Many referential integrity.)</a:t>
            </a:r>
          </a:p>
          <a:p>
            <a:pPr algn="ctr">
              <a:lnSpc>
                <a:spcPts val="4677"/>
              </a:lnSpc>
            </a:pPr>
            <a:endParaRPr lang="en-US" sz="3118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4677"/>
              </a:lnSpc>
            </a:pPr>
            <a:r>
              <a:rPr lang="en-US" sz="311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Power BI</a:t>
            </a:r>
          </a:p>
          <a:p>
            <a:pPr algn="ctr">
              <a:lnSpc>
                <a:spcPts val="4677"/>
              </a:lnSpc>
            </a:pPr>
            <a:r>
              <a:rPr lang="en-US" sz="311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Kimball Star Schema architecture (Fact &amp; Dimension tables) ensuring 1-to-Many referential integrity.)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082B27A6-C782-BDAD-8B4C-6B0DD701B143}"/>
              </a:ext>
            </a:extLst>
          </p:cNvPr>
          <p:cNvSpPr/>
          <p:nvPr/>
        </p:nvSpPr>
        <p:spPr>
          <a:xfrm>
            <a:off x="9144000" y="3330663"/>
            <a:ext cx="152400" cy="64402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A7B4A0D2-5A9A-A50A-CD93-7A9CCA46738F}"/>
              </a:ext>
            </a:extLst>
          </p:cNvPr>
          <p:cNvSpPr/>
          <p:nvPr/>
        </p:nvSpPr>
        <p:spPr>
          <a:xfrm>
            <a:off x="9198833" y="7078913"/>
            <a:ext cx="152400" cy="64402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5C0B2EA4-1D89-89FF-F438-664381E8D2F2}"/>
              </a:ext>
            </a:extLst>
          </p:cNvPr>
          <p:cNvSpPr/>
          <p:nvPr/>
        </p:nvSpPr>
        <p:spPr>
          <a:xfrm>
            <a:off x="9144000" y="5116764"/>
            <a:ext cx="152400" cy="64402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5280054" y="0"/>
            <a:ext cx="3007946" cy="2368074"/>
          </a:xfrm>
          <a:custGeom>
            <a:avLst/>
            <a:gdLst/>
            <a:ahLst/>
            <a:cxnLst/>
            <a:rect l="l" t="t" r="r" b="b"/>
            <a:pathLst>
              <a:path w="3007946" h="2368074">
                <a:moveTo>
                  <a:pt x="3007946" y="0"/>
                </a:moveTo>
                <a:lnTo>
                  <a:pt x="0" y="0"/>
                </a:lnTo>
                <a:lnTo>
                  <a:pt x="0" y="2368074"/>
                </a:lnTo>
                <a:lnTo>
                  <a:pt x="3007946" y="2368074"/>
                </a:lnTo>
                <a:lnTo>
                  <a:pt x="30079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52510" y="5385436"/>
            <a:ext cx="7466082" cy="1451818"/>
          </a:xfrm>
          <a:custGeom>
            <a:avLst/>
            <a:gdLst/>
            <a:ahLst/>
            <a:cxnLst/>
            <a:rect l="l" t="t" r="r" b="b"/>
            <a:pathLst>
              <a:path w="7466082" h="1451818">
                <a:moveTo>
                  <a:pt x="0" y="0"/>
                </a:moveTo>
                <a:lnTo>
                  <a:pt x="7466082" y="0"/>
                </a:lnTo>
                <a:lnTo>
                  <a:pt x="7466082" y="1451818"/>
                </a:lnTo>
                <a:lnTo>
                  <a:pt x="0" y="1451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1" b="-21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8494781" y="1967958"/>
            <a:ext cx="9648979" cy="7314570"/>
            <a:chOff x="0" y="0"/>
            <a:chExt cx="5107694" cy="3871973"/>
          </a:xfrm>
        </p:grpSpPr>
        <p:sp>
          <p:nvSpPr>
            <p:cNvPr id="5" name="Freeform 5"/>
            <p:cNvSpPr/>
            <p:nvPr/>
          </p:nvSpPr>
          <p:spPr>
            <a:xfrm>
              <a:off x="-417" y="-803"/>
              <a:ext cx="5108892" cy="3872686"/>
            </a:xfrm>
            <a:custGeom>
              <a:avLst/>
              <a:gdLst/>
              <a:ahLst/>
              <a:cxnLst/>
              <a:rect l="l" t="t" r="r" b="b"/>
              <a:pathLst>
                <a:path w="5108892" h="3872686">
                  <a:moveTo>
                    <a:pt x="4206411" y="3863886"/>
                  </a:moveTo>
                  <a:cubicBezTo>
                    <a:pt x="4692821" y="3922306"/>
                    <a:pt x="4907451" y="3681006"/>
                    <a:pt x="5012861" y="3402876"/>
                  </a:cubicBezTo>
                  <a:cubicBezTo>
                    <a:pt x="5176691" y="2973616"/>
                    <a:pt x="5076361" y="2277734"/>
                    <a:pt x="5097951" y="1375307"/>
                  </a:cubicBezTo>
                  <a:cubicBezTo>
                    <a:pt x="5108111" y="1014263"/>
                    <a:pt x="5124621" y="818683"/>
                    <a:pt x="4992541" y="645963"/>
                  </a:cubicBezTo>
                  <a:cubicBezTo>
                    <a:pt x="4878241" y="494833"/>
                    <a:pt x="4743621" y="341163"/>
                    <a:pt x="4606461" y="209083"/>
                  </a:cubicBezTo>
                  <a:cubicBezTo>
                    <a:pt x="4429931" y="40173"/>
                    <a:pt x="4291501" y="64303"/>
                    <a:pt x="4054011" y="54143"/>
                  </a:cubicBezTo>
                  <a:cubicBezTo>
                    <a:pt x="3704761" y="37633"/>
                    <a:pt x="3342811" y="32553"/>
                    <a:pt x="2982038" y="19853"/>
                  </a:cubicBezTo>
                  <a:cubicBezTo>
                    <a:pt x="2398771" y="3343"/>
                    <a:pt x="1817093" y="27473"/>
                    <a:pt x="1304707" y="17313"/>
                  </a:cubicBezTo>
                  <a:cubicBezTo>
                    <a:pt x="968157" y="9693"/>
                    <a:pt x="441107" y="-67777"/>
                    <a:pt x="162977" y="181143"/>
                  </a:cubicBezTo>
                  <a:cubicBezTo>
                    <a:pt x="-27523" y="350053"/>
                    <a:pt x="2957" y="587543"/>
                    <a:pt x="417" y="826303"/>
                  </a:cubicBezTo>
                  <a:cubicBezTo>
                    <a:pt x="-2123" y="1080303"/>
                    <a:pt x="32167" y="1569405"/>
                    <a:pt x="24547" y="2073554"/>
                  </a:cubicBezTo>
                  <a:cubicBezTo>
                    <a:pt x="16927" y="2675166"/>
                    <a:pt x="-49113" y="2974886"/>
                    <a:pt x="173137" y="3246666"/>
                  </a:cubicBezTo>
                  <a:cubicBezTo>
                    <a:pt x="336967" y="3447326"/>
                    <a:pt x="559217" y="3754666"/>
                    <a:pt x="820837" y="3828326"/>
                  </a:cubicBezTo>
                  <a:cubicBezTo>
                    <a:pt x="1090077" y="3904526"/>
                    <a:pt x="1201837" y="3849916"/>
                    <a:pt x="1492667" y="3849916"/>
                  </a:cubicBezTo>
                  <a:cubicBezTo>
                    <a:pt x="1964897" y="3849916"/>
                    <a:pt x="2107932" y="3884206"/>
                    <a:pt x="2637164" y="3854996"/>
                  </a:cubicBezTo>
                  <a:cubicBezTo>
                    <a:pt x="3148501" y="3823246"/>
                    <a:pt x="3995591" y="3839756"/>
                    <a:pt x="4206411" y="3863886"/>
                  </a:cubicBezTo>
                  <a:close/>
                </a:path>
              </a:pathLst>
            </a:custGeom>
            <a:solidFill>
              <a:srgbClr val="D6C3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490761" y="178173"/>
            <a:ext cx="12993140" cy="1066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Challenges: Synthetic Personas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1241" y="2494439"/>
            <a:ext cx="8073540" cy="3130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Data Roadblock:</a:t>
            </a:r>
          </a:p>
          <a:p>
            <a:pPr algn="l">
              <a:lnSpc>
                <a:spcPts val="3919"/>
              </a:lnSpc>
            </a:pPr>
            <a:endParaRPr lang="en-US" sz="34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0" lvl="0" indent="0" algn="l">
              <a:lnSpc>
                <a:spcPts val="4171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Upstream data anonymization protocols resulted in the complete removal of Primary User Identifiers (PII) from the raw transaction logs.</a:t>
            </a:r>
          </a:p>
          <a:p>
            <a:pPr marL="0" lvl="0" indent="0" algn="l">
              <a:lnSpc>
                <a:spcPts val="3576"/>
              </a:lnSpc>
            </a:pPr>
            <a:endParaRPr lang="en-US" sz="2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21241" y="6917161"/>
            <a:ext cx="8073540" cy="1560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Without a persistent ID, tracking longitudinal behavior and calculating cohort retention was mathematically impossible within the native dataset.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59412" y="3678659"/>
            <a:ext cx="9648979" cy="4798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engineering of synthetic personas transformed anonymized rows into trackable demographic units, directly enabling: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6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82919" lvl="1" indent="-291459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Cohort Analysis:</a:t>
            </a: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Validating that mature cohorts contribute higher average SIP volumes over time.</a:t>
            </a:r>
          </a:p>
          <a:p>
            <a:pPr marL="582919" lvl="1" indent="-291459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Churn Prediction</a:t>
            </a: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Calculating the standard deviation of transaction gaps between "Healthy" and "At-Risk" segments.</a:t>
            </a:r>
          </a:p>
          <a:p>
            <a:pPr marL="604508" lvl="1" indent="-302254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Behavioral Mapping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Correlating geographic clusters with fund category net-inflow preferences.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494782" y="2272824"/>
            <a:ext cx="6457394" cy="62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Business Intelligence Impact: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442532" y="6501060"/>
            <a:ext cx="3845468" cy="3845468"/>
          </a:xfrm>
          <a:custGeom>
            <a:avLst/>
            <a:gdLst/>
            <a:ahLst/>
            <a:cxnLst/>
            <a:rect l="l" t="t" r="r" b="b"/>
            <a:pathLst>
              <a:path w="3845468" h="3845468">
                <a:moveTo>
                  <a:pt x="3845468" y="0"/>
                </a:moveTo>
                <a:lnTo>
                  <a:pt x="0" y="0"/>
                </a:lnTo>
                <a:lnTo>
                  <a:pt x="0" y="3845468"/>
                </a:lnTo>
                <a:lnTo>
                  <a:pt x="3845468" y="3845468"/>
                </a:lnTo>
                <a:lnTo>
                  <a:pt x="384546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3244797" cy="2554540"/>
          </a:xfrm>
          <a:custGeom>
            <a:avLst/>
            <a:gdLst/>
            <a:ahLst/>
            <a:cxnLst/>
            <a:rect l="l" t="t" r="r" b="b"/>
            <a:pathLst>
              <a:path w="3244797" h="2554540">
                <a:moveTo>
                  <a:pt x="0" y="0"/>
                </a:moveTo>
                <a:lnTo>
                  <a:pt x="3244797" y="0"/>
                </a:lnTo>
                <a:lnTo>
                  <a:pt x="3244797" y="2554540"/>
                </a:lnTo>
                <a:lnTo>
                  <a:pt x="0" y="25545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684198" y="454472"/>
            <a:ext cx="12267945" cy="2292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Industry Overview &amp; Market Share</a:t>
            </a:r>
          </a:p>
          <a:p>
            <a:pPr marL="0" lvl="0" indent="0" algn="ctr">
              <a:lnSpc>
                <a:spcPts val="9800"/>
              </a:lnSpc>
              <a:spcBef>
                <a:spcPct val="0"/>
              </a:spcBef>
            </a:pPr>
            <a:endParaRPr lang="en-US" sz="600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10337" y="2234315"/>
            <a:ext cx="16448963" cy="334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Macro-Level Key Performance Indicators:</a:t>
            </a:r>
          </a:p>
          <a:p>
            <a:pPr algn="ctr">
              <a:lnSpc>
                <a:spcPts val="5179"/>
              </a:lnSpc>
              <a:spcBef>
                <a:spcPct val="0"/>
              </a:spcBef>
            </a:pPr>
            <a:endParaRPr lang="en-US" sz="350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626114" lvl="1" indent="-313057" algn="l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Total AUM</a:t>
            </a: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₹391.76 Lakh Crore managed across 40 distinct schemes.</a:t>
            </a:r>
          </a:p>
          <a:p>
            <a:pPr marL="626114" lvl="1" indent="-313057" algn="l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Monthly SIP Inflows:</a:t>
            </a: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Baseline of ₹32,778K, demonstrating strong retail participation.</a:t>
            </a:r>
          </a:p>
          <a:p>
            <a:pPr marL="626114" lvl="1" indent="-313057" algn="l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Active Folio Count:</a:t>
            </a: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Reached 60,000, indicating broad market penetration.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endParaRPr lang="en-US" sz="2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25830" y="5486785"/>
            <a:ext cx="17636340" cy="2795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Market Dynamics and AMC Dominance: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endParaRPr lang="en-US" sz="350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Top-tier AMCs (SBI, ICICI, HDFC) control a significant portion of industry assets, reflecting brand trust. Capital momentum shows a consistent upward trend from 2022 to 2025 as retail investors shift from traditional savings to capital market instruments.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081" y="64770"/>
            <a:ext cx="9144000" cy="5078730"/>
          </a:xfrm>
          <a:custGeom>
            <a:avLst/>
            <a:gdLst/>
            <a:ahLst/>
            <a:cxnLst/>
            <a:rect l="l" t="t" r="r" b="b"/>
            <a:pathLst>
              <a:path w="9144000" h="5078730">
                <a:moveTo>
                  <a:pt x="0" y="0"/>
                </a:moveTo>
                <a:lnTo>
                  <a:pt x="9144000" y="0"/>
                </a:lnTo>
                <a:lnTo>
                  <a:pt x="9144000" y="5078730"/>
                </a:lnTo>
                <a:lnTo>
                  <a:pt x="0" y="50787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71" r="-357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80637" y="64770"/>
            <a:ext cx="8807363" cy="5143500"/>
          </a:xfrm>
          <a:custGeom>
            <a:avLst/>
            <a:gdLst/>
            <a:ahLst/>
            <a:cxnLst/>
            <a:rect l="l" t="t" r="r" b="b"/>
            <a:pathLst>
              <a:path w="8807363" h="5143500">
                <a:moveTo>
                  <a:pt x="0" y="0"/>
                </a:moveTo>
                <a:lnTo>
                  <a:pt x="8807363" y="0"/>
                </a:lnTo>
                <a:lnTo>
                  <a:pt x="8807363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30150" y="5143500"/>
            <a:ext cx="9150487" cy="5279107"/>
          </a:xfrm>
          <a:custGeom>
            <a:avLst/>
            <a:gdLst/>
            <a:ahLst/>
            <a:cxnLst/>
            <a:rect l="l" t="t" r="r" b="b"/>
            <a:pathLst>
              <a:path w="9150487" h="5279107">
                <a:moveTo>
                  <a:pt x="0" y="0"/>
                </a:moveTo>
                <a:lnTo>
                  <a:pt x="9150487" y="0"/>
                </a:lnTo>
                <a:lnTo>
                  <a:pt x="9150487" y="5279107"/>
                </a:lnTo>
                <a:lnTo>
                  <a:pt x="0" y="52791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43" b="-943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225081" y="5070925"/>
            <a:ext cx="8977667" cy="5216075"/>
          </a:xfrm>
          <a:custGeom>
            <a:avLst/>
            <a:gdLst/>
            <a:ahLst/>
            <a:cxnLst/>
            <a:rect l="l" t="t" r="r" b="b"/>
            <a:pathLst>
              <a:path w="8977667" h="5216075">
                <a:moveTo>
                  <a:pt x="0" y="0"/>
                </a:moveTo>
                <a:lnTo>
                  <a:pt x="8977668" y="0"/>
                </a:lnTo>
                <a:lnTo>
                  <a:pt x="8977668" y="5216075"/>
                </a:lnTo>
                <a:lnTo>
                  <a:pt x="0" y="5216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809790" y="0"/>
            <a:ext cx="4478210" cy="3525572"/>
          </a:xfrm>
          <a:custGeom>
            <a:avLst/>
            <a:gdLst/>
            <a:ahLst/>
            <a:cxnLst/>
            <a:rect l="l" t="t" r="r" b="b"/>
            <a:pathLst>
              <a:path w="4478210" h="3525572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06818" y="5218189"/>
            <a:ext cx="17981182" cy="4040111"/>
          </a:xfrm>
          <a:custGeom>
            <a:avLst/>
            <a:gdLst/>
            <a:ahLst/>
            <a:cxnLst/>
            <a:rect l="l" t="t" r="r" b="b"/>
            <a:pathLst>
              <a:path w="17981182" h="4040111">
                <a:moveTo>
                  <a:pt x="0" y="0"/>
                </a:moveTo>
                <a:lnTo>
                  <a:pt x="17981182" y="0"/>
                </a:lnTo>
                <a:lnTo>
                  <a:pt x="17981182" y="4040111"/>
                </a:lnTo>
                <a:lnTo>
                  <a:pt x="0" y="40401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2882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75522" y="456404"/>
            <a:ext cx="14392844" cy="2292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Fund Performance Scorecard</a:t>
            </a:r>
          </a:p>
          <a:p>
            <a:pPr marL="0" lvl="0" indent="0" algn="l">
              <a:lnSpc>
                <a:spcPts val="9800"/>
              </a:lnSpc>
              <a:spcBef>
                <a:spcPct val="0"/>
              </a:spcBef>
            </a:pPr>
            <a:endParaRPr lang="en-US" sz="600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75522" y="2558253"/>
            <a:ext cx="17174679" cy="2984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9"/>
              </a:lnSpc>
            </a:pPr>
            <a:r>
              <a:rPr lang="en-US" sz="3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Risk-Adjusted Performance Ranking:</a:t>
            </a:r>
          </a:p>
          <a:p>
            <a:pPr algn="l">
              <a:lnSpc>
                <a:spcPts val="475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Evaluating the top-tier equity schemes across four critical quantitative dimensions: Alpha generation, Sharpe efficiency, CAGR growth, and tail-risk volatility.</a:t>
            </a:r>
          </a:p>
          <a:p>
            <a:pPr marL="0" lvl="0" indent="0" algn="l">
              <a:lnSpc>
                <a:spcPts val="4079"/>
              </a:lnSpc>
            </a:pPr>
            <a:endParaRPr lang="en-US" sz="2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>
              <a:lnSpc>
                <a:spcPts val="4079"/>
              </a:lnSpc>
            </a:pPr>
            <a:endParaRPr lang="en-US" sz="2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73467" y="876300"/>
            <a:ext cx="12425607" cy="1066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Quantitative Risk: VaR &amp; CVaR</a:t>
            </a:r>
          </a:p>
        </p:txBody>
      </p:sp>
      <p:sp>
        <p:nvSpPr>
          <p:cNvPr id="3" name="Freeform 3"/>
          <p:cNvSpPr/>
          <p:nvPr/>
        </p:nvSpPr>
        <p:spPr>
          <a:xfrm flipV="1">
            <a:off x="0" y="23130"/>
            <a:ext cx="5372897" cy="2276154"/>
          </a:xfrm>
          <a:custGeom>
            <a:avLst/>
            <a:gdLst/>
            <a:ahLst/>
            <a:cxnLst/>
            <a:rect l="l" t="t" r="r" b="b"/>
            <a:pathLst>
              <a:path w="5372897" h="2276154">
                <a:moveTo>
                  <a:pt x="0" y="2276155"/>
                </a:moveTo>
                <a:lnTo>
                  <a:pt x="5372897" y="2276155"/>
                </a:lnTo>
                <a:lnTo>
                  <a:pt x="5372897" y="0"/>
                </a:lnTo>
                <a:lnTo>
                  <a:pt x="0" y="0"/>
                </a:lnTo>
                <a:lnTo>
                  <a:pt x="0" y="22761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915103" y="23731"/>
            <a:ext cx="5372897" cy="2276154"/>
          </a:xfrm>
          <a:custGeom>
            <a:avLst/>
            <a:gdLst/>
            <a:ahLst/>
            <a:cxnLst/>
            <a:rect l="l" t="t" r="r" b="b"/>
            <a:pathLst>
              <a:path w="5372897" h="2276154">
                <a:moveTo>
                  <a:pt x="5372897" y="2276155"/>
                </a:moveTo>
                <a:lnTo>
                  <a:pt x="0" y="2276155"/>
                </a:lnTo>
                <a:lnTo>
                  <a:pt x="0" y="0"/>
                </a:lnTo>
                <a:lnTo>
                  <a:pt x="5372897" y="0"/>
                </a:lnTo>
                <a:lnTo>
                  <a:pt x="5372897" y="22761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8605" y="5615217"/>
            <a:ext cx="9057665" cy="4087655"/>
          </a:xfrm>
          <a:custGeom>
            <a:avLst/>
            <a:gdLst/>
            <a:ahLst/>
            <a:cxnLst/>
            <a:rect l="l" t="t" r="r" b="b"/>
            <a:pathLst>
              <a:path w="9057665" h="4087655">
                <a:moveTo>
                  <a:pt x="0" y="0"/>
                </a:moveTo>
                <a:lnTo>
                  <a:pt x="9057665" y="0"/>
                </a:lnTo>
                <a:lnTo>
                  <a:pt x="9057665" y="4087655"/>
                </a:lnTo>
                <a:lnTo>
                  <a:pt x="0" y="40876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5669" b="-4559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97570" y="2399577"/>
            <a:ext cx="8984759" cy="3025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Tail Risk Analysis: VaR &amp; CVaR:</a:t>
            </a:r>
          </a:p>
          <a:p>
            <a:pPr algn="ctr">
              <a:lnSpc>
                <a:spcPts val="3359"/>
              </a:lnSpc>
            </a:pPr>
            <a:endParaRPr lang="en-US" sz="34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Standard volatility metrics often fail to capture extreme downside risk. We utilized 95% Confidence Value at Risk (VaR) and Conditional VaR (CVaR) to model expected shortfalls.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32893" y="2399577"/>
            <a:ext cx="6364421" cy="615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Risk Mitigation Strategy: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11628" y="3342045"/>
            <a:ext cx="8555107" cy="5453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calculation of CVaR provides an essential prepare-for-worst-case perspective for wealth managers: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Tail Risk Isolation: Small Cap funds exhibited the highest tail risk, predicting more severe losses during bottom-5th-percentile market crashes.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Asset Allocation: CVaR scores suggest a higher allocation to Liquid and Gilt instruments for risk-averse portfolios to buffer against "Black Swan" events.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Diversification: Mitigating concentration risk through broad category exposure to lower overall portfolio HHI.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3172895"/>
            <a:ext cx="9144000" cy="4840528"/>
          </a:xfrm>
          <a:custGeom>
            <a:avLst/>
            <a:gdLst/>
            <a:ahLst/>
            <a:cxnLst/>
            <a:rect l="l" t="t" r="r" b="b"/>
            <a:pathLst>
              <a:path w="9144000" h="4840528">
                <a:moveTo>
                  <a:pt x="0" y="0"/>
                </a:moveTo>
                <a:lnTo>
                  <a:pt x="9144000" y="0"/>
                </a:lnTo>
                <a:lnTo>
                  <a:pt x="9144000" y="4840528"/>
                </a:lnTo>
                <a:lnTo>
                  <a:pt x="0" y="48405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45" r="-252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88469" y="-14135"/>
            <a:ext cx="13340233" cy="2256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Performance Trends: Rolling Sharpe</a:t>
            </a:r>
          </a:p>
          <a:p>
            <a:pPr marL="0" lvl="0" indent="0" algn="ctr">
              <a:lnSpc>
                <a:spcPts val="9520"/>
              </a:lnSpc>
              <a:spcBef>
                <a:spcPct val="0"/>
              </a:spcBef>
            </a:pPr>
            <a:endParaRPr lang="en-US" sz="600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40342" y="1944839"/>
            <a:ext cx="6468041" cy="615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Dynamic Risk-Adjusted Returns: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0342" y="3032760"/>
            <a:ext cx="8303658" cy="2410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3-year metrics often mask significant intra-year volatility. By engineering a Rolling 90-Day Sharpe Ratio, we track how efficiently a fund generates returns relative to risk over dynamic cycles.</a:t>
            </a: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0342" y="5674405"/>
            <a:ext cx="6933875" cy="615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Strategic Utility of Rolling Metrics: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0342" y="6766605"/>
            <a:ext cx="8303658" cy="290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Underperformance Triggers: Identifying specific market phases where fund managers fail to deliver risk-adjusted alpha.</a:t>
            </a: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Normalization: Calculating performance while adjusting for trailing 90-day standard deviation.</a:t>
            </a:r>
          </a:p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910934" y="-23511"/>
            <a:ext cx="4478210" cy="3525572"/>
          </a:xfrm>
          <a:custGeom>
            <a:avLst/>
            <a:gdLst/>
            <a:ahLst/>
            <a:cxnLst/>
            <a:rect l="l" t="t" r="r" b="b"/>
            <a:pathLst>
              <a:path w="4478210" h="3525572">
                <a:moveTo>
                  <a:pt x="4478209" y="0"/>
                </a:moveTo>
                <a:lnTo>
                  <a:pt x="0" y="0"/>
                </a:lnTo>
                <a:lnTo>
                  <a:pt x="0" y="3525572"/>
                </a:lnTo>
                <a:lnTo>
                  <a:pt x="4478209" y="3525572"/>
                </a:lnTo>
                <a:lnTo>
                  <a:pt x="447820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1544825"/>
            <a:ext cx="14663162" cy="4326695"/>
          </a:xfrm>
          <a:custGeom>
            <a:avLst/>
            <a:gdLst/>
            <a:ahLst/>
            <a:cxnLst/>
            <a:rect l="l" t="t" r="r" b="b"/>
            <a:pathLst>
              <a:path w="14663162" h="4326695">
                <a:moveTo>
                  <a:pt x="0" y="0"/>
                </a:moveTo>
                <a:lnTo>
                  <a:pt x="14663162" y="0"/>
                </a:lnTo>
                <a:lnTo>
                  <a:pt x="14663162" y="4326696"/>
                </a:lnTo>
                <a:lnTo>
                  <a:pt x="0" y="432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429" r="-4718" b="-5037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30800" y="180172"/>
            <a:ext cx="10898029" cy="1066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Investor Behavior &amp; Demographics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842002" y="6083650"/>
            <a:ext cx="9165656" cy="4020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Demographic Resilience:</a:t>
            </a:r>
          </a:p>
          <a:p>
            <a:pPr marL="604518" lvl="1" indent="-302259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Commitment Stability: Average SIP amounts remain consistent across 25–45 demographics (~₹11,000).</a:t>
            </a:r>
          </a:p>
          <a:p>
            <a:pPr marL="604518" lvl="1" indent="-302259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Mature Cohorts: Investors aged 46+ show a 15% higher retention rate during periods of NAV volatility.</a:t>
            </a:r>
          </a:p>
          <a:p>
            <a:pPr marL="604518" lvl="1" indent="-302259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Tiered Participation: Significant transaction split migration between Tier 1 hubs and emerging Tier 2 cities.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25710" y="6083650"/>
            <a:ext cx="8416292" cy="364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Regional Transaction Volume:</a:t>
            </a:r>
          </a:p>
          <a:p>
            <a:pPr algn="l">
              <a:lnSpc>
                <a:spcPts val="4899"/>
              </a:lnSpc>
            </a:pPr>
            <a:endParaRPr lang="en-US" sz="34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Capital inflows are heavily skewed toward high-tier financial centers. Maharashtra and Delhi emerge as the primary engines of transaction volume, together contributing over 40% of the organic growth footprint.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6761428"/>
            <a:ext cx="4478210" cy="3525572"/>
          </a:xfrm>
          <a:custGeom>
            <a:avLst/>
            <a:gdLst/>
            <a:ahLst/>
            <a:cxnLst/>
            <a:rect l="l" t="t" r="r" b="b"/>
            <a:pathLst>
              <a:path w="4478210" h="3525572">
                <a:moveTo>
                  <a:pt x="0" y="3525572"/>
                </a:moveTo>
                <a:lnTo>
                  <a:pt x="4478210" y="3525572"/>
                </a:lnTo>
                <a:lnTo>
                  <a:pt x="4478210" y="0"/>
                </a:lnTo>
                <a:lnTo>
                  <a:pt x="0" y="0"/>
                </a:lnTo>
                <a:lnTo>
                  <a:pt x="0" y="35255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5156726" y="-203860"/>
            <a:ext cx="4478210" cy="3525572"/>
          </a:xfrm>
          <a:custGeom>
            <a:avLst/>
            <a:gdLst/>
            <a:ahLst/>
            <a:cxnLst/>
            <a:rect l="l" t="t" r="r" b="b"/>
            <a:pathLst>
              <a:path w="4478210" h="3525572">
                <a:moveTo>
                  <a:pt x="4478209" y="0"/>
                </a:moveTo>
                <a:lnTo>
                  <a:pt x="0" y="0"/>
                </a:lnTo>
                <a:lnTo>
                  <a:pt x="0" y="3525573"/>
                </a:lnTo>
                <a:lnTo>
                  <a:pt x="4478209" y="3525573"/>
                </a:lnTo>
                <a:lnTo>
                  <a:pt x="447820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29918" y="2627347"/>
            <a:ext cx="4381115" cy="5032307"/>
          </a:xfrm>
          <a:custGeom>
            <a:avLst/>
            <a:gdLst/>
            <a:ahLst/>
            <a:cxnLst/>
            <a:rect l="l" t="t" r="r" b="b"/>
            <a:pathLst>
              <a:path w="4381115" h="5032307">
                <a:moveTo>
                  <a:pt x="0" y="0"/>
                </a:moveTo>
                <a:lnTo>
                  <a:pt x="4381115" y="0"/>
                </a:lnTo>
                <a:lnTo>
                  <a:pt x="4381115" y="5032306"/>
                </a:lnTo>
                <a:lnTo>
                  <a:pt x="0" y="503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49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006383" y="2627347"/>
            <a:ext cx="4275234" cy="5032307"/>
          </a:xfrm>
          <a:custGeom>
            <a:avLst/>
            <a:gdLst/>
            <a:ahLst/>
            <a:cxnLst/>
            <a:rect l="l" t="t" r="r" b="b"/>
            <a:pathLst>
              <a:path w="4275234" h="5032307">
                <a:moveTo>
                  <a:pt x="0" y="0"/>
                </a:moveTo>
                <a:lnTo>
                  <a:pt x="4275234" y="0"/>
                </a:lnTo>
                <a:lnTo>
                  <a:pt x="4275234" y="5032306"/>
                </a:lnTo>
                <a:lnTo>
                  <a:pt x="0" y="50323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179018" y="2686202"/>
            <a:ext cx="4341905" cy="5020327"/>
          </a:xfrm>
          <a:custGeom>
            <a:avLst/>
            <a:gdLst/>
            <a:ahLst/>
            <a:cxnLst/>
            <a:rect l="l" t="t" r="r" b="b"/>
            <a:pathLst>
              <a:path w="4341905" h="5020327">
                <a:moveTo>
                  <a:pt x="0" y="0"/>
                </a:moveTo>
                <a:lnTo>
                  <a:pt x="4341905" y="0"/>
                </a:lnTo>
                <a:lnTo>
                  <a:pt x="4341905" y="5020327"/>
                </a:lnTo>
                <a:lnTo>
                  <a:pt x="0" y="50203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967519" y="433386"/>
            <a:ext cx="10352961" cy="1047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Churn Analysis: SIP Continuity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172200"/>
            <a:ext cx="2967737" cy="4114800"/>
          </a:xfrm>
          <a:custGeom>
            <a:avLst/>
            <a:gdLst/>
            <a:ahLst/>
            <a:cxnLst/>
            <a:rect l="l" t="t" r="r" b="b"/>
            <a:pathLst>
              <a:path w="2967737" h="4114800">
                <a:moveTo>
                  <a:pt x="0" y="0"/>
                </a:moveTo>
                <a:lnTo>
                  <a:pt x="2967737" y="0"/>
                </a:lnTo>
                <a:lnTo>
                  <a:pt x="2967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489936" y="6172200"/>
            <a:ext cx="2798064" cy="4114800"/>
          </a:xfrm>
          <a:custGeom>
            <a:avLst/>
            <a:gdLst/>
            <a:ahLst/>
            <a:cxnLst/>
            <a:rect l="l" t="t" r="r" b="b"/>
            <a:pathLst>
              <a:path w="2798064" h="4114800">
                <a:moveTo>
                  <a:pt x="0" y="0"/>
                </a:moveTo>
                <a:lnTo>
                  <a:pt x="2798064" y="0"/>
                </a:lnTo>
                <a:lnTo>
                  <a:pt x="27980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11816" y="2019300"/>
            <a:ext cx="11178598" cy="6940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Net Inflow Dynamics: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Analyzing capital migration across asset classes provides a real-time pulse of investor risk appetite and market sentiment shifts.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Category Momentum Analysis: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Equity Dominance: Sustained momentum in Equity Index categories for FY25, driven by long-term SIP retail confidence.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Debt Stagnation: Significant capital plateau observed in mid-term debt instruments as interest rate cycles stabilize.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Concentration Risk: HHI models indicate high sector concentration in sectoral equity inflows, requiring tactical rebalancing.</a:t>
            </a:r>
          </a:p>
          <a:p>
            <a:pPr algn="l">
              <a:lnSpc>
                <a:spcPts val="3853"/>
              </a:lnSpc>
              <a:spcBef>
                <a:spcPct val="0"/>
              </a:spcBef>
            </a:pPr>
            <a:endParaRPr lang="en-US" sz="27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2530117" y="5143500"/>
            <a:ext cx="5757883" cy="5701397"/>
          </a:xfrm>
          <a:custGeom>
            <a:avLst/>
            <a:gdLst/>
            <a:ahLst/>
            <a:cxnLst/>
            <a:rect l="l" t="t" r="r" b="b"/>
            <a:pathLst>
              <a:path w="5757883" h="5701397">
                <a:moveTo>
                  <a:pt x="0" y="0"/>
                </a:moveTo>
                <a:lnTo>
                  <a:pt x="5757883" y="0"/>
                </a:lnTo>
                <a:lnTo>
                  <a:pt x="5757883" y="5701397"/>
                </a:lnTo>
                <a:lnTo>
                  <a:pt x="0" y="57013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99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474741" y="114300"/>
            <a:ext cx="6813259" cy="5225876"/>
          </a:xfrm>
          <a:custGeom>
            <a:avLst/>
            <a:gdLst/>
            <a:ahLst/>
            <a:cxnLst/>
            <a:rect l="l" t="t" r="r" b="b"/>
            <a:pathLst>
              <a:path w="6813259" h="5225876">
                <a:moveTo>
                  <a:pt x="0" y="0"/>
                </a:moveTo>
                <a:lnTo>
                  <a:pt x="6813259" y="0"/>
                </a:lnTo>
                <a:lnTo>
                  <a:pt x="6813259" y="5225876"/>
                </a:lnTo>
                <a:lnTo>
                  <a:pt x="0" y="52258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11816" y="-38100"/>
            <a:ext cx="10137101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Market Sentiment: Net Inflows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208760" y="0"/>
            <a:ext cx="6079240" cy="6079240"/>
          </a:xfrm>
          <a:custGeom>
            <a:avLst/>
            <a:gdLst/>
            <a:ahLst/>
            <a:cxnLst/>
            <a:rect l="l" t="t" r="r" b="b"/>
            <a:pathLst>
              <a:path w="6079240" h="6079240">
                <a:moveTo>
                  <a:pt x="6079240" y="6079240"/>
                </a:moveTo>
                <a:lnTo>
                  <a:pt x="0" y="6079240"/>
                </a:lnTo>
                <a:lnTo>
                  <a:pt x="0" y="0"/>
                </a:lnTo>
                <a:lnTo>
                  <a:pt x="6079240" y="0"/>
                </a:lnTo>
                <a:lnTo>
                  <a:pt x="6079240" y="607924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98261" y="4164589"/>
            <a:ext cx="5036410" cy="4346977"/>
          </a:xfrm>
          <a:custGeom>
            <a:avLst/>
            <a:gdLst/>
            <a:ahLst/>
            <a:cxnLst/>
            <a:rect l="l" t="t" r="r" b="b"/>
            <a:pathLst>
              <a:path w="5036410" h="4346977">
                <a:moveTo>
                  <a:pt x="0" y="0"/>
                </a:moveTo>
                <a:lnTo>
                  <a:pt x="5036410" y="0"/>
                </a:lnTo>
                <a:lnTo>
                  <a:pt x="5036410" y="4346977"/>
                </a:lnTo>
                <a:lnTo>
                  <a:pt x="0" y="43469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501" r="-9003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512744" y="4195771"/>
            <a:ext cx="4917944" cy="4315795"/>
          </a:xfrm>
          <a:custGeom>
            <a:avLst/>
            <a:gdLst/>
            <a:ahLst/>
            <a:cxnLst/>
            <a:rect l="l" t="t" r="r" b="b"/>
            <a:pathLst>
              <a:path w="4917944" h="4315795">
                <a:moveTo>
                  <a:pt x="0" y="0"/>
                </a:moveTo>
                <a:lnTo>
                  <a:pt x="4917943" y="0"/>
                </a:lnTo>
                <a:lnTo>
                  <a:pt x="4917943" y="4315795"/>
                </a:lnTo>
                <a:lnTo>
                  <a:pt x="0" y="43157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804" r="-993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211737" y="4195771"/>
            <a:ext cx="5364865" cy="4315795"/>
          </a:xfrm>
          <a:custGeom>
            <a:avLst/>
            <a:gdLst/>
            <a:ahLst/>
            <a:cxnLst/>
            <a:rect l="l" t="t" r="r" b="b"/>
            <a:pathLst>
              <a:path w="5364865" h="4315795">
                <a:moveTo>
                  <a:pt x="0" y="0"/>
                </a:moveTo>
                <a:lnTo>
                  <a:pt x="5364865" y="0"/>
                </a:lnTo>
                <a:lnTo>
                  <a:pt x="5364865" y="4315795"/>
                </a:lnTo>
                <a:lnTo>
                  <a:pt x="0" y="43157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815" t="-5673" r="-5933" b="-5673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946940" y="876300"/>
            <a:ext cx="9324591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Roadmap &amp; Q&amp;A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45115" y="2679257"/>
            <a:ext cx="13328243" cy="62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Transitioning from MVP to Scalable Financial Intelligence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3066628" cy="10287000"/>
          </a:xfrm>
          <a:custGeom>
            <a:avLst/>
            <a:gdLst/>
            <a:ahLst/>
            <a:cxnLst/>
            <a:rect l="l" t="t" r="r" b="b"/>
            <a:pathLst>
              <a:path w="13066628" h="10287000">
                <a:moveTo>
                  <a:pt x="0" y="0"/>
                </a:moveTo>
                <a:lnTo>
                  <a:pt x="13066628" y="0"/>
                </a:lnTo>
                <a:lnTo>
                  <a:pt x="130666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0" y="5362577"/>
            <a:ext cx="8115300" cy="2123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10"/>
              </a:lnSpc>
            </a:pPr>
            <a:r>
              <a:rPr lang="en-US" sz="12007" b="1" i="1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953</Words>
  <Application>Microsoft Office PowerPoint</Application>
  <PresentationFormat>Custom</PresentationFormat>
  <Paragraphs>115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Times New Roman</vt:lpstr>
      <vt:lpstr>Times New Roman Bold Italics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Capstone Final.pptx</dc:title>
  <cp:lastModifiedBy>M Jitendra Bsc Bt Bc</cp:lastModifiedBy>
  <cp:revision>1</cp:revision>
  <dcterms:created xsi:type="dcterms:W3CDTF">2006-08-16T00:00:00Z</dcterms:created>
  <dcterms:modified xsi:type="dcterms:W3CDTF">2026-06-12T16:50:35Z</dcterms:modified>
  <dc:identifier>DAHMXcKY3WI</dc:identifier>
</cp:coreProperties>
</file>